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4"/>
  </p:sldMasterIdLst>
  <p:notesMasterIdLst>
    <p:notesMasterId r:id="rId12"/>
  </p:notesMasterIdLst>
  <p:sldIdLst>
    <p:sldId id="292" r:id="rId5"/>
    <p:sldId id="1291" r:id="rId6"/>
    <p:sldId id="1292" r:id="rId7"/>
    <p:sldId id="1294" r:id="rId8"/>
    <p:sldId id="1293" r:id="rId9"/>
    <p:sldId id="1296" r:id="rId10"/>
    <p:sldId id="1250" r:id="rId1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588" userDrawn="1">
          <p15:clr>
            <a:srgbClr val="A4A3A4"/>
          </p15:clr>
        </p15:guide>
        <p15:guide id="2" pos="144" userDrawn="1">
          <p15:clr>
            <a:srgbClr val="A4A3A4"/>
          </p15:clr>
        </p15:guide>
        <p15:guide id="3" orient="horz" pos="85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7C73"/>
    <a:srgbClr val="E8ECF8"/>
    <a:srgbClr val="EF6331"/>
    <a:srgbClr val="223366"/>
    <a:srgbClr val="00717D"/>
    <a:srgbClr val="C9D2ED"/>
    <a:srgbClr val="851910"/>
    <a:srgbClr val="0000FF"/>
    <a:srgbClr val="FFCD8C"/>
    <a:srgbClr val="9F5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138" d="100"/>
          <a:sy n="138" d="100"/>
        </p:scale>
        <p:origin x="834" y="120"/>
      </p:cViewPr>
      <p:guideLst>
        <p:guide orient="horz" pos="588"/>
        <p:guide pos="144"/>
        <p:guide orient="horz" pos="85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pPr marL="158750" indent="0">
              <a:buNone/>
            </a:pPr>
            <a:endParaRPr lang="en-US" b="1"/>
          </a:p>
        </p:txBody>
      </p:sp>
      <p:sp>
        <p:nvSpPr>
          <p:cNvPr id="4" name="Slide Number Placeholder 3"/>
          <p:cNvSpPr>
            <a:spLocks noGrp="1"/>
          </p:cNvSpPr>
          <p:nvPr>
            <p:ph type="sldNum"/>
          </p:nvPr>
        </p:nvSpPr>
        <p:spPr/>
        <p:txBody>
          <a:bodyPr/>
          <a:lstStyle/>
          <a:p>
            <a:pPr algn="r"/>
            <a:fld id="{023E65BA-FB28-47C4-A217-44F00343302E}" type="slidenum">
              <a:rPr lang="en-US" sz="1400" b="0" strike="noStrike" spc="-1">
                <a:latin typeface="Times New Roman" panose="02020603050405020304"/>
              </a:rPr>
              <a:t>1</a:t>
            </a:fld>
            <a:endParaRPr lang="en-US" sz="1400" b="0" strike="noStrike" spc="-1">
              <a:latin typeface="Times New Roman" panose="02020603050405020304"/>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r>
              <a:rPr lang="en-US" b="1" spc="-5">
                <a:solidFill>
                  <a:srgbClr val="223366"/>
                </a:solidFill>
              </a:rPr>
              <a:t>Thank You !!</a:t>
            </a:r>
            <a:endParaRPr lang="en-US" sz="1100" b="1" spc="-5">
              <a:solidFill>
                <a:srgbClr val="223366"/>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Title and body">
    <p:spTree>
      <p:nvGrpSpPr>
        <p:cNvPr id="1" name="Shape 13"/>
        <p:cNvGrpSpPr/>
        <p:nvPr/>
      </p:nvGrpSpPr>
      <p:grpSpPr>
        <a:xfrm>
          <a:off x="0" y="0"/>
          <a:ext cx="0" cy="0"/>
          <a:chOff x="0" y="0"/>
          <a:chExt cx="0" cy="0"/>
        </a:xfrm>
      </p:grpSpPr>
      <p:sp>
        <p:nvSpPr>
          <p:cNvPr id="16" name="Google Shape;16;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a:xfrm>
            <a:off x="628650" y="4767263"/>
            <a:ext cx="2057400" cy="274637"/>
          </a:xfrm>
          <a:prstGeom prst="rect">
            <a:avLst/>
          </a:prstGeom>
        </p:spPr>
        <p:txBody>
          <a:bodyPr/>
          <a:lstStyle/>
          <a:p>
            <a:fld id="{757799B1-BD81-4C27-AC39-14752E0AA9C5}" type="datetimeFigureOut">
              <a:rPr lang="en-IN" smtClean="0"/>
              <a:t>15-05-2026</a:t>
            </a:fld>
            <a:endParaRPr lang="en-IN"/>
          </a:p>
        </p:txBody>
      </p:sp>
      <p:sp>
        <p:nvSpPr>
          <p:cNvPr id="5" name="Footer Placeholder 4"/>
          <p:cNvSpPr>
            <a:spLocks noGrp="1"/>
          </p:cNvSpPr>
          <p:nvPr>
            <p:ph type="ftr" sz="quarter" idx="11"/>
          </p:nvPr>
        </p:nvSpPr>
        <p:spPr>
          <a:xfrm>
            <a:off x="3028950" y="4767263"/>
            <a:ext cx="3086100" cy="274637"/>
          </a:xfrm>
          <a:prstGeom prst="rect">
            <a:avLst/>
          </a:prstGeom>
        </p:spPr>
        <p:txBody>
          <a:bodyPr/>
          <a:lstStyle/>
          <a:p>
            <a:endParaRPr lang="en-IN"/>
          </a:p>
        </p:txBody>
      </p:sp>
      <p:sp>
        <p:nvSpPr>
          <p:cNvPr id="6" name="Slide Number Placeholder 5"/>
          <p:cNvSpPr>
            <a:spLocks noGrp="1"/>
          </p:cNvSpPr>
          <p:nvPr>
            <p:ph type="sldNum" sz="quarter" idx="12"/>
          </p:nvPr>
        </p:nvSpPr>
        <p:spPr>
          <a:xfrm>
            <a:off x="6457950" y="4767263"/>
            <a:ext cx="2057400" cy="274637"/>
          </a:xfrm>
          <a:prstGeom prst="rect">
            <a:avLst/>
          </a:prstGeom>
        </p:spPr>
        <p:txBody>
          <a:bodyPr/>
          <a:lstStyle/>
          <a:p>
            <a:fld id="{46D0F184-99CC-4BD8-B5C7-8D3F468855F6}"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2" name="Rectangle 1"/>
          <p:cNvSpPr/>
          <p:nvPr userDrawn="1"/>
        </p:nvSpPr>
        <p:spPr>
          <a:xfrm>
            <a:off x="0" y="454356"/>
            <a:ext cx="9144000" cy="45719"/>
          </a:xfrm>
          <a:prstGeom prst="rect">
            <a:avLst/>
          </a:prstGeom>
          <a:solidFill>
            <a:srgbClr val="EF63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userDrawn="1"/>
        </p:nvSpPr>
        <p:spPr>
          <a:xfrm>
            <a:off x="0" y="2445"/>
            <a:ext cx="9144000" cy="467289"/>
          </a:xfrm>
          <a:prstGeom prst="rect">
            <a:avLst/>
          </a:prstGeom>
          <a:solidFill>
            <a:srgbClr val="E8ECF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Google Shape;110;p4" descr="A close up of a sign&#10;&#10;Description automatically generated"/>
          <p:cNvPicPr preferRelativeResize="0"/>
          <p:nvPr userDrawn="1"/>
        </p:nvPicPr>
        <p:blipFill rotWithShape="1">
          <a:blip r:embed="rId5"/>
          <a:srcRect/>
          <a:stretch>
            <a:fillRect/>
          </a:stretch>
        </p:blipFill>
        <p:spPr>
          <a:xfrm>
            <a:off x="7717638" y="48027"/>
            <a:ext cx="1125129" cy="376123"/>
          </a:xfrm>
          <a:prstGeom prst="rect">
            <a:avLst/>
          </a:prstGeom>
          <a:noFill/>
          <a:ln>
            <a:noFill/>
          </a:ln>
        </p:spPr>
      </p:pic>
      <p:sp>
        <p:nvSpPr>
          <p:cNvPr id="14" name="Rectangle 13"/>
          <p:cNvSpPr/>
          <p:nvPr userDrawn="1"/>
        </p:nvSpPr>
        <p:spPr>
          <a:xfrm>
            <a:off x="0" y="5097781"/>
            <a:ext cx="9144000" cy="45719"/>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jpeg"/><Relationship Id="rId7" Type="http://schemas.openxmlformats.org/officeDocument/2006/relationships/image" Target="../media/image6.sv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5.png"/><Relationship Id="rId11" Type="http://schemas.openxmlformats.org/officeDocument/2006/relationships/image" Target="../media/image9.png"/><Relationship Id="rId5" Type="http://schemas.openxmlformats.org/officeDocument/2006/relationships/image" Target="../media/image4.svg"/><Relationship Id="rId10"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svg"/></Relationships>
</file>

<file path=ppt/slides/_rels/slide4.xml.rels><?xml version="1.0" encoding="UTF-8" standalone="yes"?>
<Relationships xmlns="http://schemas.openxmlformats.org/package/2006/relationships"><Relationship Id="rId3" Type="http://schemas.openxmlformats.org/officeDocument/2006/relationships/hyperlink" Target="https://copilotstudio.microsoft.com/environments/Default-ad06ef22-d6dc-4a55-b4c1-c3a158f5f147/bots/cr78b_copilot1tJ7uAB/canvas"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hyperlink" Target="https://github.com/monikavishwakarma627/Personal-Finance-Tracker/blob/main/Monika_Dashboard.pbix"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3"/>
          <p:cNvSpPr/>
          <p:nvPr/>
        </p:nvSpPr>
        <p:spPr>
          <a:xfrm>
            <a:off x="0" y="8878"/>
            <a:ext cx="9144000" cy="5143500"/>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a:sym typeface="+mn-ea"/>
              </a:rPr>
              <a:t>Managing personal expenses and savings manually is difficult.</a:t>
            </a:r>
          </a:p>
          <a:p>
            <a:pPr algn="ctr"/>
            <a:r>
              <a:rPr>
                <a:sym typeface="+mn-ea"/>
              </a:rPr>
              <a:t>People often struggle to track income, expenses, and monthly budgets.</a:t>
            </a:r>
          </a:p>
          <a:p>
            <a:pPr algn="ctr"/>
            <a:r>
              <a:rPr>
                <a:sym typeface="+mn-ea"/>
              </a:rPr>
              <a:t>The project helps users maintain financial records efficiently.</a:t>
            </a:r>
            <a:endParaRPr lang="en-US"/>
          </a:p>
        </p:txBody>
      </p:sp>
      <p:pic>
        <p:nvPicPr>
          <p:cNvPr id="37" name="Picture 36" descr="A group of people sitting around a table&#10;&#10;Description automatically generated"/>
          <p:cNvPicPr>
            <a:picLocks noChangeAspect="1"/>
          </p:cNvPicPr>
          <p:nvPr/>
        </p:nvPicPr>
        <p:blipFill rotWithShape="1">
          <a:blip r:embed="rId3"/>
          <a:srcRect r="27854" b="25110"/>
          <a:stretch>
            <a:fillRect/>
          </a:stretch>
        </p:blipFill>
        <p:spPr>
          <a:xfrm>
            <a:off x="3591976" y="-2697"/>
            <a:ext cx="5563599" cy="3851975"/>
          </a:xfrm>
          <a:prstGeom prst="rect">
            <a:avLst/>
          </a:prstGeom>
        </p:spPr>
      </p:pic>
      <p:grpSp>
        <p:nvGrpSpPr>
          <p:cNvPr id="9" name="Group 6"/>
          <p:cNvGrpSpPr/>
          <p:nvPr/>
        </p:nvGrpSpPr>
        <p:grpSpPr>
          <a:xfrm>
            <a:off x="552672" y="1325358"/>
            <a:ext cx="5347819" cy="2630034"/>
            <a:chOff x="-30164" y="-47625"/>
            <a:chExt cx="1548591" cy="761590"/>
          </a:xfrm>
        </p:grpSpPr>
        <p:sp>
          <p:nvSpPr>
            <p:cNvPr id="10" name="Freeform 7"/>
            <p:cNvSpPr/>
            <p:nvPr/>
          </p:nvSpPr>
          <p:spPr>
            <a:xfrm>
              <a:off x="-30164" y="0"/>
              <a:ext cx="1548591" cy="713965"/>
            </a:xfrm>
            <a:custGeom>
              <a:avLst/>
              <a:gdLst/>
              <a:ahLst/>
              <a:cxnLst/>
              <a:rect l="l" t="t" r="r" b="b"/>
              <a:pathLst>
                <a:path w="1223699" h="713965">
                  <a:moveTo>
                    <a:pt x="0" y="0"/>
                  </a:moveTo>
                  <a:lnTo>
                    <a:pt x="1223699" y="0"/>
                  </a:lnTo>
                  <a:lnTo>
                    <a:pt x="1223699" y="713965"/>
                  </a:lnTo>
                  <a:lnTo>
                    <a:pt x="0" y="713965"/>
                  </a:lnTo>
                  <a:close/>
                </a:path>
              </a:pathLst>
            </a:custGeom>
            <a:solidFill>
              <a:srgbClr val="FFFFFF"/>
            </a:solidFill>
          </p:spPr>
          <p:txBody>
            <a:bodyPr/>
            <a:lstStyle/>
            <a:p>
              <a:endParaRPr lang="en-US"/>
            </a:p>
          </p:txBody>
        </p:sp>
        <p:sp>
          <p:nvSpPr>
            <p:cNvPr id="11" name="TextBox 8"/>
            <p:cNvSpPr txBox="1"/>
            <p:nvPr/>
          </p:nvSpPr>
          <p:spPr>
            <a:xfrm>
              <a:off x="0" y="-47625"/>
              <a:ext cx="1223699" cy="761589"/>
            </a:xfrm>
            <a:prstGeom prst="rect">
              <a:avLst/>
            </a:prstGeom>
          </p:spPr>
          <p:txBody>
            <a:bodyPr lIns="50800" tIns="50800" rIns="50800" bIns="50800" rtlCol="0" anchor="ctr"/>
            <a:lstStyle/>
            <a:p>
              <a:pPr algn="ctr">
                <a:lnSpc>
                  <a:spcPts val="2240"/>
                </a:lnSpc>
              </a:pPr>
              <a:endParaRPr/>
            </a:p>
          </p:txBody>
        </p:sp>
      </p:grpSp>
      <p:grpSp>
        <p:nvGrpSpPr>
          <p:cNvPr id="12" name="Group 9"/>
          <p:cNvGrpSpPr/>
          <p:nvPr/>
        </p:nvGrpSpPr>
        <p:grpSpPr>
          <a:xfrm>
            <a:off x="793587" y="1098363"/>
            <a:ext cx="4820890" cy="773873"/>
            <a:chOff x="-117556" y="-72266"/>
            <a:chExt cx="1991689" cy="319716"/>
          </a:xfrm>
        </p:grpSpPr>
        <p:sp>
          <p:nvSpPr>
            <p:cNvPr id="13" name="Freeform 10"/>
            <p:cNvSpPr/>
            <p:nvPr/>
          </p:nvSpPr>
          <p:spPr>
            <a:xfrm>
              <a:off x="-117556" y="-72266"/>
              <a:ext cx="1991689" cy="319716"/>
            </a:xfrm>
            <a:custGeom>
              <a:avLst/>
              <a:gdLst/>
              <a:ahLst/>
              <a:cxnLst/>
              <a:rect l="l" t="t" r="r" b="b"/>
              <a:pathLst>
                <a:path w="736235" h="178921">
                  <a:moveTo>
                    <a:pt x="0" y="0"/>
                  </a:moveTo>
                  <a:lnTo>
                    <a:pt x="736235" y="0"/>
                  </a:lnTo>
                  <a:lnTo>
                    <a:pt x="736235" y="178921"/>
                  </a:lnTo>
                  <a:lnTo>
                    <a:pt x="0" y="178921"/>
                  </a:lnTo>
                  <a:close/>
                </a:path>
              </a:pathLst>
            </a:custGeom>
            <a:solidFill>
              <a:srgbClr val="E8ECF8"/>
            </a:solidFill>
            <a:ln cap="sq">
              <a:noFill/>
              <a:prstDash val="solid"/>
              <a:miter/>
            </a:ln>
          </p:spPr>
          <p:txBody>
            <a:bodyPr/>
            <a:lstStyle/>
            <a:p>
              <a:endParaRPr lang="en-US"/>
            </a:p>
          </p:txBody>
        </p:sp>
        <p:sp>
          <p:nvSpPr>
            <p:cNvPr id="14" name="TextBox 11"/>
            <p:cNvSpPr txBox="1"/>
            <p:nvPr/>
          </p:nvSpPr>
          <p:spPr>
            <a:xfrm>
              <a:off x="0" y="-66675"/>
              <a:ext cx="736235" cy="245596"/>
            </a:xfrm>
            <a:prstGeom prst="rect">
              <a:avLst/>
            </a:prstGeom>
          </p:spPr>
          <p:txBody>
            <a:bodyPr lIns="50800" tIns="50800" rIns="50800" bIns="50800" rtlCol="0" anchor="ctr"/>
            <a:lstStyle/>
            <a:p>
              <a:pPr marL="0" lvl="0" indent="0" algn="ctr">
                <a:lnSpc>
                  <a:spcPts val="3500"/>
                </a:lnSpc>
                <a:spcBef>
                  <a:spcPct val="0"/>
                </a:spcBef>
              </a:pPr>
              <a:endParaRPr/>
            </a:p>
          </p:txBody>
        </p:sp>
      </p:grpSp>
      <p:sp>
        <p:nvSpPr>
          <p:cNvPr id="16" name="Freeform 13"/>
          <p:cNvSpPr/>
          <p:nvPr/>
        </p:nvSpPr>
        <p:spPr>
          <a:xfrm>
            <a:off x="1783618" y="199"/>
            <a:ext cx="1032349" cy="451764"/>
          </a:xfrm>
          <a:custGeom>
            <a:avLst/>
            <a:gdLst/>
            <a:ahLst/>
            <a:cxnLst/>
            <a:rect l="l" t="t" r="r" b="b"/>
            <a:pathLst>
              <a:path w="2102123" h="919905">
                <a:moveTo>
                  <a:pt x="0" y="0"/>
                </a:moveTo>
                <a:lnTo>
                  <a:pt x="2102123" y="0"/>
                </a:lnTo>
                <a:lnTo>
                  <a:pt x="2102123" y="919905"/>
                </a:lnTo>
                <a:lnTo>
                  <a:pt x="0" y="919905"/>
                </a:lnTo>
                <a:lnTo>
                  <a:pt x="0" y="0"/>
                </a:lnTo>
                <a:close/>
              </a:path>
            </a:pathLst>
          </a:custGeom>
          <a:blipFill dpi="0" rotWithShape="1">
            <a:blip r:embed="rId4">
              <a:alphaModFix amt="32000"/>
              <a:extLst>
                <a:ext uri="{96DAC541-7B7A-43D3-8B79-37D633B846F1}">
                  <asvg:svgBlip xmlns:asvg="http://schemas.microsoft.com/office/drawing/2016/SVG/main" r:embed="rId5"/>
                </a:ext>
              </a:extLst>
            </a:blip>
            <a:srcRect/>
            <a:stretch>
              <a:fillRect t="-106728" r="-65303"/>
            </a:stretch>
          </a:blipFill>
        </p:spPr>
        <p:txBody>
          <a:bodyPr/>
          <a:lstStyle/>
          <a:p>
            <a:endParaRPr lang="en-US"/>
          </a:p>
        </p:txBody>
      </p:sp>
      <p:sp>
        <p:nvSpPr>
          <p:cNvPr id="17" name="Freeform 14"/>
          <p:cNvSpPr/>
          <p:nvPr/>
        </p:nvSpPr>
        <p:spPr>
          <a:xfrm>
            <a:off x="151647" y="93093"/>
            <a:ext cx="770970" cy="773872"/>
          </a:xfrm>
          <a:custGeom>
            <a:avLst/>
            <a:gdLst/>
            <a:ahLst/>
            <a:cxnLst/>
            <a:rect l="l" t="t" r="r" b="b"/>
            <a:pathLst>
              <a:path w="1569889" h="1575798">
                <a:moveTo>
                  <a:pt x="0" y="0"/>
                </a:moveTo>
                <a:lnTo>
                  <a:pt x="1569889" y="0"/>
                </a:lnTo>
                <a:lnTo>
                  <a:pt x="1569889" y="1575798"/>
                </a:lnTo>
                <a:lnTo>
                  <a:pt x="0" y="1575798"/>
                </a:lnTo>
                <a:lnTo>
                  <a:pt x="0" y="0"/>
                </a:lnTo>
                <a:close/>
              </a:path>
            </a:pathLst>
          </a:custGeom>
          <a:blipFill dpi="0" rotWithShape="1">
            <a:blip r:embed="rId6">
              <a:alphaModFix amt="30000"/>
              <a:extLst>
                <a:ext uri="{96DAC541-7B7A-43D3-8B79-37D633B846F1}">
                  <asvg:svgBlip xmlns:asvg="http://schemas.microsoft.com/office/drawing/2016/SVG/main" r:embed="rId7"/>
                </a:ext>
              </a:extLst>
            </a:blip>
            <a:srcRect/>
            <a:stretch>
              <a:fillRect/>
            </a:stretch>
          </a:blipFill>
        </p:spPr>
        <p:txBody>
          <a:bodyPr/>
          <a:lstStyle/>
          <a:p>
            <a:endParaRPr lang="en-US"/>
          </a:p>
        </p:txBody>
      </p:sp>
      <p:sp>
        <p:nvSpPr>
          <p:cNvPr id="35" name="TextBox 34"/>
          <p:cNvSpPr txBox="1"/>
          <p:nvPr/>
        </p:nvSpPr>
        <p:spPr>
          <a:xfrm>
            <a:off x="793587" y="2065201"/>
            <a:ext cx="4089105" cy="1753235"/>
          </a:xfrm>
          <a:prstGeom prst="rect">
            <a:avLst/>
          </a:prstGeom>
          <a:noFill/>
        </p:spPr>
        <p:txBody>
          <a:bodyPr wrap="square" rtlCol="0">
            <a:spAutoFit/>
          </a:bodyPr>
          <a:lstStyle/>
          <a:p>
            <a:r>
              <a:rPr sz="3600" b="1" dirty="0">
                <a:sym typeface="+mn-ea"/>
              </a:rPr>
              <a:t>Personal Finance Tracker</a:t>
            </a:r>
            <a:endParaRPr lang="en-US" sz="3600" b="1" dirty="0">
              <a:solidFill>
                <a:schemeClr val="tx1"/>
              </a:solidFill>
              <a:sym typeface="+mn-ea"/>
            </a:endParaRPr>
          </a:p>
          <a:p>
            <a:endParaRPr lang="en-US" sz="3600" b="1" dirty="0">
              <a:solidFill>
                <a:schemeClr val="tx1"/>
              </a:solidFill>
              <a:sym typeface="+mn-ea"/>
            </a:endParaRPr>
          </a:p>
        </p:txBody>
      </p:sp>
      <p:pic>
        <p:nvPicPr>
          <p:cNvPr id="39" name="Picture 38" descr="A group of people looking at a computer&#10;&#10;Description automatically generated"/>
          <p:cNvPicPr>
            <a:picLocks noChangeAspect="1"/>
          </p:cNvPicPr>
          <p:nvPr/>
        </p:nvPicPr>
        <p:blipFill rotWithShape="1">
          <a:blip r:embed="rId8"/>
          <a:srcRect t="62443" r="30604" b="14243"/>
          <a:stretch>
            <a:fillRect/>
          </a:stretch>
        </p:blipFill>
        <p:spPr>
          <a:xfrm>
            <a:off x="-8839" y="3956265"/>
            <a:ext cx="3569383" cy="1199146"/>
          </a:xfrm>
          <a:prstGeom prst="rect">
            <a:avLst/>
          </a:prstGeom>
        </p:spPr>
      </p:pic>
      <p:sp>
        <p:nvSpPr>
          <p:cNvPr id="40" name="Google Shape;70;p13"/>
          <p:cNvSpPr txBox="1"/>
          <p:nvPr/>
        </p:nvSpPr>
        <p:spPr>
          <a:xfrm>
            <a:off x="3705805" y="3971818"/>
            <a:ext cx="1456920" cy="276959"/>
          </a:xfrm>
          <a:prstGeom prst="rect">
            <a:avLst/>
          </a:prstGeom>
          <a:noFill/>
          <a:ln>
            <a:noFill/>
          </a:ln>
        </p:spPr>
        <p:txBody>
          <a:bodyPr spcFirstLastPara="1" wrap="square" lIns="91425" tIns="45700" rIns="91425" bIns="45700" anchor="t" anchorCtr="0">
            <a:spAutoFit/>
          </a:bodyPr>
          <a:lstStyle/>
          <a:p>
            <a:pPr marL="0" marR="0" lvl="0" indent="0" rtl="0">
              <a:lnSpc>
                <a:spcPct val="100000"/>
              </a:lnSpc>
              <a:spcBef>
                <a:spcPts val="0"/>
              </a:spcBef>
              <a:spcAft>
                <a:spcPts val="0"/>
              </a:spcAft>
              <a:buNone/>
            </a:pPr>
            <a:r>
              <a:rPr lang="en-US" sz="1200" b="0" i="0" u="none" strike="noStrike" cap="none" dirty="0">
                <a:solidFill>
                  <a:schemeClr val="bg1"/>
                </a:solidFill>
                <a:latin typeface="Arial" panose="020B0604020202020204"/>
                <a:ea typeface="Arial" panose="020B0604020202020204"/>
                <a:cs typeface="Arial" panose="020B0604020202020204"/>
                <a:sym typeface="Arial" panose="020B0604020202020204"/>
              </a:rPr>
              <a:t>Team Members</a:t>
            </a:r>
          </a:p>
        </p:txBody>
      </p:sp>
      <p:sp>
        <p:nvSpPr>
          <p:cNvPr id="41" name="TextBox 40"/>
          <p:cNvSpPr txBox="1"/>
          <p:nvPr/>
        </p:nvSpPr>
        <p:spPr>
          <a:xfrm>
            <a:off x="3705860" y="4306570"/>
            <a:ext cx="2195195" cy="751205"/>
          </a:xfrm>
          <a:prstGeom prst="rect">
            <a:avLst/>
          </a:prstGeom>
          <a:noFill/>
        </p:spPr>
        <p:txBody>
          <a:bodyPr wrap="square" lIns="91440" tIns="45720" rIns="91440" bIns="45720" anchor="t">
            <a:noAutofit/>
          </a:bodyPr>
          <a:lstStyle/>
          <a:p>
            <a:pPr marL="228600" indent="-228600">
              <a:spcAft>
                <a:spcPts val="200"/>
              </a:spcAft>
              <a:buClr>
                <a:schemeClr val="bg1"/>
              </a:buClr>
              <a:buAutoNum type="arabicPeriod"/>
            </a:pPr>
            <a:r>
              <a:rPr lang="en-US" altLang="fi-FI" sz="1100" dirty="0">
                <a:solidFill>
                  <a:schemeClr val="bg1"/>
                </a:solidFill>
                <a:sym typeface="+mn-ea"/>
              </a:rPr>
              <a:t>Monika Vishwakarma</a:t>
            </a:r>
            <a:endParaRPr lang="en-US" sz="1100" dirty="0">
              <a:solidFill>
                <a:schemeClr val="bg1"/>
              </a:solidFill>
            </a:endParaRPr>
          </a:p>
          <a:p>
            <a:pPr marL="228600" indent="-228600">
              <a:spcAft>
                <a:spcPts val="200"/>
              </a:spcAft>
              <a:buClr>
                <a:schemeClr val="bg1"/>
              </a:buClr>
              <a:buAutoNum type="arabicPeriod"/>
            </a:pPr>
            <a:r>
              <a:rPr lang="en-US" altLang="fi-FI" sz="1100" dirty="0">
                <a:solidFill>
                  <a:schemeClr val="bg1"/>
                </a:solidFill>
                <a:sym typeface="+mn-ea"/>
              </a:rPr>
              <a:t>Sakshi Prajapati</a:t>
            </a:r>
            <a:endParaRPr lang="fi-FI" sz="1100" dirty="0">
              <a:solidFill>
                <a:schemeClr val="bg1"/>
              </a:solidFill>
            </a:endParaRPr>
          </a:p>
          <a:p>
            <a:pPr marL="228600" indent="-228600">
              <a:spcAft>
                <a:spcPts val="200"/>
              </a:spcAft>
              <a:buClr>
                <a:schemeClr val="bg1"/>
              </a:buClr>
              <a:buAutoNum type="arabicPeriod"/>
            </a:pPr>
            <a:r>
              <a:rPr lang="en-US" altLang="fi-FI" sz="1100" dirty="0">
                <a:solidFill>
                  <a:schemeClr val="bg1"/>
                </a:solidFill>
                <a:sym typeface="+mn-ea"/>
              </a:rPr>
              <a:t>Neha Sahu</a:t>
            </a:r>
          </a:p>
          <a:p>
            <a:pPr marL="228600" indent="-228600">
              <a:spcAft>
                <a:spcPts val="200"/>
              </a:spcAft>
              <a:buClr>
                <a:schemeClr val="bg1"/>
              </a:buClr>
              <a:buAutoNum type="arabicPeriod"/>
            </a:pPr>
            <a:r>
              <a:rPr lang="en-US" sz="1100" dirty="0">
                <a:solidFill>
                  <a:schemeClr val="bg1"/>
                </a:solidFill>
                <a:sym typeface="+mn-ea"/>
              </a:rPr>
              <a:t>Krishna Kumar </a:t>
            </a:r>
            <a:endParaRPr lang="fi-FI" sz="1100" dirty="0">
              <a:solidFill>
                <a:schemeClr val="bg1"/>
              </a:solidFill>
            </a:endParaRPr>
          </a:p>
        </p:txBody>
      </p:sp>
      <p:cxnSp>
        <p:nvCxnSpPr>
          <p:cNvPr id="42" name="Straight Connector 41"/>
          <p:cNvCxnSpPr/>
          <p:nvPr/>
        </p:nvCxnSpPr>
        <p:spPr>
          <a:xfrm>
            <a:off x="3767827" y="4283706"/>
            <a:ext cx="2074828" cy="13408"/>
          </a:xfrm>
          <a:prstGeom prst="line">
            <a:avLst/>
          </a:prstGeom>
          <a:ln w="3175">
            <a:solidFill>
              <a:srgbClr val="E5EEFF"/>
            </a:solidFill>
            <a:prstDash val="lgDashDotDot"/>
          </a:ln>
        </p:spPr>
        <p:style>
          <a:lnRef idx="1">
            <a:schemeClr val="accent1"/>
          </a:lnRef>
          <a:fillRef idx="0">
            <a:schemeClr val="accent1"/>
          </a:fillRef>
          <a:effectRef idx="0">
            <a:schemeClr val="accent1"/>
          </a:effectRef>
          <a:fontRef idx="minor">
            <a:schemeClr val="tx1"/>
          </a:fontRef>
        </p:style>
      </p:cxnSp>
      <p:sp>
        <p:nvSpPr>
          <p:cNvPr id="44" name="Google Shape;70;p13"/>
          <p:cNvSpPr txBox="1"/>
          <p:nvPr/>
        </p:nvSpPr>
        <p:spPr>
          <a:xfrm>
            <a:off x="6609792" y="3971817"/>
            <a:ext cx="1456920" cy="276959"/>
          </a:xfrm>
          <a:prstGeom prst="rect">
            <a:avLst/>
          </a:prstGeom>
          <a:noFill/>
          <a:ln>
            <a:noFill/>
          </a:ln>
        </p:spPr>
        <p:txBody>
          <a:bodyPr spcFirstLastPara="1" wrap="square" lIns="91425" tIns="45700" rIns="91425" bIns="45700" anchor="t" anchorCtr="0">
            <a:spAutoFit/>
          </a:bodyPr>
          <a:lstStyle/>
          <a:p>
            <a:pPr marL="0" marR="0" lvl="0" indent="0" rtl="0">
              <a:lnSpc>
                <a:spcPct val="100000"/>
              </a:lnSpc>
              <a:spcBef>
                <a:spcPts val="0"/>
              </a:spcBef>
              <a:spcAft>
                <a:spcPts val="0"/>
              </a:spcAft>
              <a:buNone/>
            </a:pPr>
            <a:r>
              <a:rPr lang="en-US" sz="1200" b="0" i="0" u="none" strike="noStrike" cap="none">
                <a:solidFill>
                  <a:schemeClr val="bg1"/>
                </a:solidFill>
                <a:latin typeface="Arial" panose="020B0604020202020204"/>
                <a:ea typeface="Arial" panose="020B0604020202020204"/>
                <a:cs typeface="Arial" panose="020B0604020202020204"/>
                <a:sym typeface="Arial" panose="020B0604020202020204"/>
              </a:rPr>
              <a:t>Guided by</a:t>
            </a:r>
          </a:p>
        </p:txBody>
      </p:sp>
      <p:sp>
        <p:nvSpPr>
          <p:cNvPr id="45" name="TextBox 44"/>
          <p:cNvSpPr txBox="1"/>
          <p:nvPr/>
        </p:nvSpPr>
        <p:spPr>
          <a:xfrm>
            <a:off x="6562814" y="4380193"/>
            <a:ext cx="2168784" cy="260350"/>
          </a:xfrm>
          <a:prstGeom prst="rect">
            <a:avLst/>
          </a:prstGeom>
          <a:noFill/>
        </p:spPr>
        <p:txBody>
          <a:bodyPr wrap="square" lIns="91440" tIns="45720" rIns="91440" bIns="45720" anchor="t">
            <a:spAutoFit/>
          </a:bodyPr>
          <a:lstStyle/>
          <a:p>
            <a:pPr marL="228600" indent="-228600">
              <a:spcAft>
                <a:spcPts val="200"/>
              </a:spcAft>
              <a:buClr>
                <a:schemeClr val="bg1"/>
              </a:buClr>
              <a:buAutoNum type="arabicPeriod"/>
            </a:pPr>
            <a:r>
              <a:rPr lang="en-US" sz="1100" dirty="0">
                <a:solidFill>
                  <a:schemeClr val="bg1"/>
                </a:solidFill>
                <a:sym typeface="+mn-ea"/>
              </a:rPr>
              <a:t>Saksham Mishra</a:t>
            </a:r>
            <a:endParaRPr lang="fi-FI" sz="1100" dirty="0">
              <a:solidFill>
                <a:schemeClr val="bg1"/>
              </a:solidFill>
            </a:endParaRPr>
          </a:p>
        </p:txBody>
      </p:sp>
      <p:cxnSp>
        <p:nvCxnSpPr>
          <p:cNvPr id="46" name="Straight Connector 45"/>
          <p:cNvCxnSpPr/>
          <p:nvPr/>
        </p:nvCxnSpPr>
        <p:spPr>
          <a:xfrm>
            <a:off x="6609792" y="4280394"/>
            <a:ext cx="2074828" cy="13408"/>
          </a:xfrm>
          <a:prstGeom prst="line">
            <a:avLst/>
          </a:prstGeom>
          <a:ln w="3175">
            <a:solidFill>
              <a:srgbClr val="E5EEFF"/>
            </a:solidFill>
            <a:prstDash val="lgDashDotDot"/>
          </a:ln>
        </p:spPr>
        <p:style>
          <a:lnRef idx="1">
            <a:schemeClr val="accent1"/>
          </a:lnRef>
          <a:fillRef idx="0">
            <a:schemeClr val="accent1"/>
          </a:fillRef>
          <a:effectRef idx="0">
            <a:schemeClr val="accent1"/>
          </a:effectRef>
          <a:fontRef idx="minor">
            <a:schemeClr val="tx1"/>
          </a:fontRef>
        </p:style>
      </p:cxnSp>
      <p:grpSp>
        <p:nvGrpSpPr>
          <p:cNvPr id="53" name="Group 52"/>
          <p:cNvGrpSpPr/>
          <p:nvPr/>
        </p:nvGrpSpPr>
        <p:grpSpPr>
          <a:xfrm>
            <a:off x="1402805" y="1159739"/>
            <a:ext cx="3608846" cy="660460"/>
            <a:chOff x="1516338" y="1159739"/>
            <a:chExt cx="3608846" cy="660460"/>
          </a:xfrm>
        </p:grpSpPr>
        <p:cxnSp>
          <p:nvCxnSpPr>
            <p:cNvPr id="48" name="Straight Connector 47"/>
            <p:cNvCxnSpPr/>
            <p:nvPr/>
          </p:nvCxnSpPr>
          <p:spPr>
            <a:xfrm>
              <a:off x="3969406" y="1316016"/>
              <a:ext cx="0" cy="330321"/>
            </a:xfrm>
            <a:prstGeom prst="line">
              <a:avLst/>
            </a:prstGeom>
          </p:spPr>
          <p:style>
            <a:lnRef idx="1">
              <a:schemeClr val="dk1"/>
            </a:lnRef>
            <a:fillRef idx="0">
              <a:schemeClr val="dk1"/>
            </a:fillRef>
            <a:effectRef idx="0">
              <a:schemeClr val="dk1"/>
            </a:effectRef>
            <a:fontRef idx="minor">
              <a:schemeClr val="tx1"/>
            </a:fontRef>
          </p:style>
        </p:cxnSp>
        <p:pic>
          <p:nvPicPr>
            <p:cNvPr id="49" name="Google Shape;110;p4" descr="A close up of a sign&#10;&#10;Description automatically generated"/>
            <p:cNvPicPr preferRelativeResize="0"/>
            <p:nvPr/>
          </p:nvPicPr>
          <p:blipFill rotWithShape="1">
            <a:blip r:embed="rId9"/>
            <a:srcRect/>
            <a:stretch>
              <a:fillRect/>
            </a:stretch>
          </p:blipFill>
          <p:spPr>
            <a:xfrm>
              <a:off x="4237873" y="1341787"/>
              <a:ext cx="887311" cy="296622"/>
            </a:xfrm>
            <a:prstGeom prst="rect">
              <a:avLst/>
            </a:prstGeom>
            <a:noFill/>
            <a:ln>
              <a:noFill/>
            </a:ln>
          </p:spPr>
        </p:pic>
        <p:pic>
          <p:nvPicPr>
            <p:cNvPr id="50" name="Picture 49"/>
            <p:cNvPicPr/>
            <p:nvPr/>
          </p:nvPicPr>
          <p:blipFill>
            <a:blip r:embed="rId10"/>
            <a:stretch>
              <a:fillRect/>
            </a:stretch>
          </p:blipFill>
          <p:spPr>
            <a:xfrm>
              <a:off x="1516338" y="1351451"/>
              <a:ext cx="1069048" cy="277034"/>
            </a:xfrm>
            <a:prstGeom prst="rect">
              <a:avLst/>
            </a:prstGeom>
            <a:ln w="0">
              <a:noFill/>
            </a:ln>
          </p:spPr>
        </p:pic>
        <p:cxnSp>
          <p:nvCxnSpPr>
            <p:cNvPr id="51" name="Straight Connector 50"/>
            <p:cNvCxnSpPr/>
            <p:nvPr/>
          </p:nvCxnSpPr>
          <p:spPr>
            <a:xfrm>
              <a:off x="2615873" y="1316016"/>
              <a:ext cx="0" cy="330321"/>
            </a:xfrm>
            <a:prstGeom prst="line">
              <a:avLst/>
            </a:prstGeom>
          </p:spPr>
          <p:style>
            <a:lnRef idx="1">
              <a:schemeClr val="dk1"/>
            </a:lnRef>
            <a:fillRef idx="0">
              <a:schemeClr val="dk1"/>
            </a:fillRef>
            <a:effectRef idx="0">
              <a:schemeClr val="dk1"/>
            </a:effectRef>
            <a:fontRef idx="minor">
              <a:schemeClr val="tx1"/>
            </a:fontRef>
          </p:style>
        </p:cxnSp>
        <p:pic>
          <p:nvPicPr>
            <p:cNvPr id="52" name="Picture 51" descr="A logo with tools in a circle&#10;&#10;Description automatically generated"/>
            <p:cNvPicPr>
              <a:picLocks noChangeAspect="1"/>
            </p:cNvPicPr>
            <p:nvPr/>
          </p:nvPicPr>
          <p:blipFill>
            <a:blip r:embed="rId11"/>
            <a:stretch>
              <a:fillRect/>
            </a:stretch>
          </p:blipFill>
          <p:spPr>
            <a:xfrm>
              <a:off x="2993928" y="1159739"/>
              <a:ext cx="658966" cy="660460"/>
            </a:xfrm>
            <a:prstGeom prst="rect">
              <a:avLst/>
            </a:prstGeom>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2" name="TextBox 1"/>
          <p:cNvSpPr txBox="1"/>
          <p:nvPr/>
        </p:nvSpPr>
        <p:spPr>
          <a:xfrm>
            <a:off x="143933" y="683683"/>
            <a:ext cx="4428068" cy="398780"/>
          </a:xfrm>
          <a:prstGeom prst="rect">
            <a:avLst/>
          </a:prstGeom>
          <a:noFill/>
        </p:spPr>
        <p:txBody>
          <a:bodyPr wrap="square">
            <a:spAutoFit/>
          </a:bodyPr>
          <a:lstStyle/>
          <a:p>
            <a:r>
              <a:rPr lang="en-IN" sz="2000" b="1">
                <a:solidFill>
                  <a:srgbClr val="213163"/>
                </a:solidFill>
              </a:rPr>
              <a:t>Problem Statement</a:t>
            </a:r>
          </a:p>
        </p:txBody>
      </p:sp>
      <p:sp>
        <p:nvSpPr>
          <p:cNvPr id="6" name="TextBox 5"/>
          <p:cNvSpPr txBox="1"/>
          <p:nvPr/>
        </p:nvSpPr>
        <p:spPr>
          <a:xfrm>
            <a:off x="134620" y="1132840"/>
            <a:ext cx="4697730" cy="3756025"/>
          </a:xfrm>
          <a:prstGeom prst="rect">
            <a:avLst/>
          </a:prstGeom>
          <a:noFill/>
        </p:spPr>
        <p:txBody>
          <a:bodyPr wrap="square" lIns="91440" tIns="45720" rIns="91440" bIns="45720" anchor="t">
            <a:noAutofit/>
          </a:bodyPr>
          <a:lstStyle/>
          <a:p>
            <a:pPr marL="285750" indent="-285750">
              <a:buFont typeface="Arial" panose="020B0604020202020204" pitchFamily="34" charset="0"/>
              <a:buChar char="•"/>
            </a:pPr>
            <a:r>
              <a:rPr lang="en-US" altLang="en-US" sz="2400" dirty="0">
                <a:sym typeface="+mn-ea"/>
              </a:rPr>
              <a:t>The purpose of this project is to help users manage their income, expenses, savings, and budgets efficiently. It helps users track daily transactions and improve financial planning through simple and organized finance management.</a:t>
            </a:r>
          </a:p>
        </p:txBody>
      </p:sp>
      <p:grpSp>
        <p:nvGrpSpPr>
          <p:cNvPr id="3" name="Group 2"/>
          <p:cNvGrpSpPr/>
          <p:nvPr/>
        </p:nvGrpSpPr>
        <p:grpSpPr>
          <a:xfrm>
            <a:off x="5112385" y="1146810"/>
            <a:ext cx="3723640" cy="3741420"/>
            <a:chOff x="8051" y="1806"/>
            <a:chExt cx="5864" cy="5892"/>
          </a:xfrm>
        </p:grpSpPr>
        <p:pic>
          <p:nvPicPr>
            <p:cNvPr id="7" name="Picture 6" descr="A cartoon of a person holding a book&#10;&#10;Description automatically generated"/>
            <p:cNvPicPr>
              <a:picLocks noChangeAspect="1"/>
            </p:cNvPicPr>
            <p:nvPr/>
          </p:nvPicPr>
          <p:blipFill rotWithShape="1">
            <a:blip r:embed="rId3"/>
            <a:srcRect b="41075"/>
            <a:stretch>
              <a:fillRect/>
            </a:stretch>
          </p:blipFill>
          <p:spPr>
            <a:xfrm>
              <a:off x="8051" y="1806"/>
              <a:ext cx="3703" cy="5545"/>
            </a:xfrm>
            <a:prstGeom prst="rect">
              <a:avLst/>
            </a:prstGeom>
          </p:spPr>
        </p:pic>
        <p:pic>
          <p:nvPicPr>
            <p:cNvPr id="8" name="Picture 7" descr="A blue question mark on a black background&#10;&#10;Description automatically generated"/>
            <p:cNvPicPr>
              <a:picLocks noChangeAspect="1"/>
            </p:cNvPicPr>
            <p:nvPr/>
          </p:nvPicPr>
          <p:blipFill>
            <a:blip r:embed="rId4"/>
            <a:stretch>
              <a:fillRect/>
            </a:stretch>
          </p:blipFill>
          <p:spPr>
            <a:xfrm>
              <a:off x="10355" y="4138"/>
              <a:ext cx="3561" cy="3561"/>
            </a:xfrm>
            <a:prstGeom prst="rect">
              <a:avLst/>
            </a:prstGeom>
          </p:spPr>
        </p:pic>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2" name="TextBox 1"/>
          <p:cNvSpPr txBox="1"/>
          <p:nvPr/>
        </p:nvSpPr>
        <p:spPr>
          <a:xfrm>
            <a:off x="143933" y="683683"/>
            <a:ext cx="4428068" cy="460375"/>
          </a:xfrm>
          <a:prstGeom prst="rect">
            <a:avLst/>
          </a:prstGeom>
          <a:noFill/>
        </p:spPr>
        <p:txBody>
          <a:bodyPr wrap="square">
            <a:spAutoFit/>
          </a:bodyPr>
          <a:lstStyle/>
          <a:p>
            <a:r>
              <a:rPr lang="en-US" sz="2400" b="1">
                <a:solidFill>
                  <a:srgbClr val="002060"/>
                </a:solidFill>
                <a:latin typeface="Arial" panose="020B0604020202020204"/>
                <a:ea typeface="Arial" panose="020B0604020202020204"/>
                <a:cs typeface="Arial" panose="020B0604020202020204"/>
                <a:sym typeface="Arial" panose="020B0604020202020204"/>
              </a:rPr>
              <a:t>Solution</a:t>
            </a:r>
          </a:p>
        </p:txBody>
      </p:sp>
      <p:grpSp>
        <p:nvGrpSpPr>
          <p:cNvPr id="25" name="Group 24"/>
          <p:cNvGrpSpPr/>
          <p:nvPr/>
        </p:nvGrpSpPr>
        <p:grpSpPr>
          <a:xfrm>
            <a:off x="4957011" y="1136519"/>
            <a:ext cx="4296704" cy="3560273"/>
            <a:chOff x="4957011" y="1136519"/>
            <a:chExt cx="4296704" cy="3560273"/>
          </a:xfrm>
        </p:grpSpPr>
        <p:grpSp>
          <p:nvGrpSpPr>
            <p:cNvPr id="14" name="Group 13"/>
            <p:cNvGrpSpPr/>
            <p:nvPr/>
          </p:nvGrpSpPr>
          <p:grpSpPr>
            <a:xfrm>
              <a:off x="5693442" y="1136519"/>
              <a:ext cx="3560273" cy="3560273"/>
              <a:chOff x="4955715" y="1142768"/>
              <a:chExt cx="3560273" cy="3560273"/>
            </a:xfrm>
          </p:grpSpPr>
          <p:pic>
            <p:nvPicPr>
              <p:cNvPr id="15" name="Graphic 2" descr="Building with solid fill"/>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55715" y="1142768"/>
                <a:ext cx="3560273" cy="3560273"/>
              </a:xfrm>
              <a:prstGeom prst="rect">
                <a:avLst/>
              </a:prstGeom>
            </p:spPr>
          </p:pic>
          <p:pic>
            <p:nvPicPr>
              <p:cNvPr id="16" name="Picture 15" descr="A green leafy plant with black background&#10;&#10;Description automatically generated"/>
              <p:cNvPicPr>
                <a:picLocks noChangeAspect="1"/>
              </p:cNvPicPr>
              <p:nvPr/>
            </p:nvPicPr>
            <p:blipFill>
              <a:blip r:embed="rId5"/>
              <a:stretch>
                <a:fillRect/>
              </a:stretch>
            </p:blipFill>
            <p:spPr>
              <a:xfrm>
                <a:off x="7432037" y="4000732"/>
                <a:ext cx="463488" cy="463488"/>
              </a:xfrm>
              <a:prstGeom prst="rect">
                <a:avLst/>
              </a:prstGeom>
            </p:spPr>
          </p:pic>
          <p:pic>
            <p:nvPicPr>
              <p:cNvPr id="17" name="Picture 16" descr="A green leafy plant with black background&#10;&#10;Description automatically generated"/>
              <p:cNvPicPr>
                <a:picLocks noChangeAspect="1"/>
              </p:cNvPicPr>
              <p:nvPr/>
            </p:nvPicPr>
            <p:blipFill>
              <a:blip r:embed="rId5"/>
              <a:stretch>
                <a:fillRect/>
              </a:stretch>
            </p:blipFill>
            <p:spPr>
              <a:xfrm>
                <a:off x="5474975" y="3992712"/>
                <a:ext cx="463488" cy="463488"/>
              </a:xfrm>
              <a:prstGeom prst="rect">
                <a:avLst/>
              </a:prstGeom>
            </p:spPr>
          </p:pic>
          <p:pic>
            <p:nvPicPr>
              <p:cNvPr id="18" name="Picture 17" descr="A green leafy plant with black background&#10;&#10;Description automatically generated"/>
              <p:cNvPicPr>
                <a:picLocks noChangeAspect="1"/>
              </p:cNvPicPr>
              <p:nvPr/>
            </p:nvPicPr>
            <p:blipFill>
              <a:blip r:embed="rId5"/>
              <a:stretch>
                <a:fillRect/>
              </a:stretch>
            </p:blipFill>
            <p:spPr>
              <a:xfrm>
                <a:off x="5926171" y="3992712"/>
                <a:ext cx="463488" cy="463488"/>
              </a:xfrm>
              <a:prstGeom prst="rect">
                <a:avLst/>
              </a:prstGeom>
            </p:spPr>
          </p:pic>
          <p:pic>
            <p:nvPicPr>
              <p:cNvPr id="19" name="Picture 18" descr="A green leafy plant with black background&#10;&#10;Description automatically generated"/>
              <p:cNvPicPr>
                <a:picLocks noChangeAspect="1"/>
              </p:cNvPicPr>
              <p:nvPr/>
            </p:nvPicPr>
            <p:blipFill>
              <a:blip r:embed="rId5"/>
              <a:stretch>
                <a:fillRect/>
              </a:stretch>
            </p:blipFill>
            <p:spPr>
              <a:xfrm>
                <a:off x="6389659" y="3992712"/>
                <a:ext cx="463488" cy="463488"/>
              </a:xfrm>
              <a:prstGeom prst="rect">
                <a:avLst/>
              </a:prstGeom>
            </p:spPr>
          </p:pic>
          <p:pic>
            <p:nvPicPr>
              <p:cNvPr id="20" name="Picture 19" descr="A green leafy plant with black background&#10;&#10;Description automatically generated"/>
              <p:cNvPicPr>
                <a:picLocks noChangeAspect="1"/>
              </p:cNvPicPr>
              <p:nvPr/>
            </p:nvPicPr>
            <p:blipFill>
              <a:blip r:embed="rId5"/>
              <a:stretch>
                <a:fillRect/>
              </a:stretch>
            </p:blipFill>
            <p:spPr>
              <a:xfrm>
                <a:off x="6807588" y="3992712"/>
                <a:ext cx="463488" cy="463488"/>
              </a:xfrm>
              <a:prstGeom prst="rect">
                <a:avLst/>
              </a:prstGeom>
            </p:spPr>
          </p:pic>
          <p:pic>
            <p:nvPicPr>
              <p:cNvPr id="21" name="Picture 20" descr="A green leafy plant with black background&#10;&#10;Description automatically generated"/>
              <p:cNvPicPr>
                <a:picLocks noChangeAspect="1"/>
              </p:cNvPicPr>
              <p:nvPr/>
            </p:nvPicPr>
            <p:blipFill>
              <a:blip r:embed="rId5"/>
              <a:stretch>
                <a:fillRect/>
              </a:stretch>
            </p:blipFill>
            <p:spPr>
              <a:xfrm>
                <a:off x="7119213" y="3992712"/>
                <a:ext cx="463488" cy="463488"/>
              </a:xfrm>
              <a:prstGeom prst="rect">
                <a:avLst/>
              </a:prstGeom>
            </p:spPr>
          </p:pic>
        </p:grpSp>
        <p:sp>
          <p:nvSpPr>
            <p:cNvPr id="22" name="Oval 21"/>
            <p:cNvSpPr/>
            <p:nvPr/>
          </p:nvSpPr>
          <p:spPr>
            <a:xfrm>
              <a:off x="4957011" y="1389708"/>
              <a:ext cx="2274970" cy="2274970"/>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Google Shape;134;p23"/>
            <p:cNvSpPr txBox="1"/>
            <p:nvPr/>
          </p:nvSpPr>
          <p:spPr>
            <a:xfrm>
              <a:off x="5156936" y="1429477"/>
              <a:ext cx="1875120" cy="2195432"/>
            </a:xfrm>
            <a:prstGeom prst="rect">
              <a:avLst/>
            </a:prstGeom>
            <a:noFill/>
            <a:ln>
              <a:noFill/>
            </a:ln>
          </p:spPr>
          <p:txBody>
            <a:bodyPr spcFirstLastPara="1" wrap="square" lIns="91425" tIns="45700" rIns="91425" bIns="45700" anchor="t" anchorCtr="0">
              <a:spAutoFit/>
            </a:bodyPr>
            <a:lstStyle/>
            <a:p>
              <a:pPr marR="0" lvl="0" rtl="0">
                <a:lnSpc>
                  <a:spcPct val="100000"/>
                </a:lnSpc>
                <a:spcBef>
                  <a:spcPts val="0"/>
                </a:spcBef>
                <a:spcAft>
                  <a:spcPts val="800"/>
                </a:spcAft>
              </a:pPr>
              <a:r>
                <a:rPr lang="en-US" sz="13000" b="1" i="0" u="none" strike="noStrike" cap="none">
                  <a:solidFill>
                    <a:schemeClr val="bg1"/>
                  </a:solidFill>
                  <a:latin typeface="Arial" panose="020B0604020202020204"/>
                  <a:ea typeface="Arial" panose="020B0604020202020204"/>
                  <a:cs typeface="Arial" panose="020B0604020202020204"/>
                  <a:sym typeface="Arial" panose="020B0604020202020204"/>
                </a:rPr>
                <a:t>AI</a:t>
              </a:r>
            </a:p>
          </p:txBody>
        </p:sp>
        <p:sp>
          <p:nvSpPr>
            <p:cNvPr id="24" name="Google Shape;134;p23"/>
            <p:cNvSpPr txBox="1"/>
            <p:nvPr/>
          </p:nvSpPr>
          <p:spPr>
            <a:xfrm>
              <a:off x="6997972" y="1375380"/>
              <a:ext cx="974956" cy="410328"/>
            </a:xfrm>
            <a:prstGeom prst="rect">
              <a:avLst/>
            </a:prstGeom>
            <a:noFill/>
            <a:ln>
              <a:noFill/>
            </a:ln>
          </p:spPr>
          <p:txBody>
            <a:bodyPr spcFirstLastPara="1" wrap="square" lIns="91425" tIns="45700" rIns="91425" bIns="45700" anchor="t" anchorCtr="0">
              <a:spAutoFit/>
            </a:bodyPr>
            <a:lstStyle/>
            <a:p>
              <a:pPr marR="0" lvl="0" rtl="0">
                <a:lnSpc>
                  <a:spcPct val="100000"/>
                </a:lnSpc>
                <a:spcBef>
                  <a:spcPts val="0"/>
                </a:spcBef>
                <a:spcAft>
                  <a:spcPts val="800"/>
                </a:spcAft>
              </a:pPr>
              <a:r>
                <a:rPr lang="en-US" sz="1400" b="1" i="0" u="none" strike="noStrike" cap="none">
                  <a:solidFill>
                    <a:schemeClr val="bg1"/>
                  </a:solidFill>
                  <a:latin typeface="Arial" panose="020B0604020202020204"/>
                  <a:ea typeface="Arial" panose="020B0604020202020204"/>
                  <a:cs typeface="Arial" panose="020B0604020202020204"/>
                  <a:sym typeface="Arial" panose="020B0604020202020204"/>
                </a:rPr>
                <a:t>SCHOOL</a:t>
              </a:r>
            </a:p>
          </p:txBody>
        </p:sp>
      </p:grpSp>
      <p:sp>
        <p:nvSpPr>
          <p:cNvPr id="26" name="Google Shape;134;p23"/>
          <p:cNvSpPr txBox="1"/>
          <p:nvPr/>
        </p:nvSpPr>
        <p:spPr>
          <a:xfrm>
            <a:off x="132080" y="1143000"/>
            <a:ext cx="4439920" cy="2921000"/>
          </a:xfrm>
          <a:prstGeom prst="rect">
            <a:avLst/>
          </a:prstGeom>
          <a:noFill/>
          <a:ln>
            <a:noFill/>
          </a:ln>
        </p:spPr>
        <p:txBody>
          <a:bodyPr spcFirstLastPara="1" wrap="square" lIns="91425" tIns="45700" rIns="91425" bIns="45700" anchor="t" anchorCtr="0">
            <a:noAutofit/>
          </a:bodyPr>
          <a:lstStyle/>
          <a:p>
            <a:pPr marL="173355" indent="-173355">
              <a:spcAft>
                <a:spcPts val="800"/>
              </a:spcAft>
              <a:buFont typeface="Arial" panose="020B0604020202020204" pitchFamily="34" charset="0"/>
              <a:buChar char="•"/>
            </a:pPr>
            <a:r>
              <a:rPr sz="2000">
                <a:sym typeface="+mn-ea"/>
              </a:rPr>
              <a:t>The Personal Finance Tracker provides an easy way to manage finances.</a:t>
            </a:r>
          </a:p>
          <a:p>
            <a:pPr marL="173355" indent="-173355">
              <a:spcAft>
                <a:spcPts val="800"/>
              </a:spcAft>
              <a:buFont typeface="Arial" panose="020B0604020202020204" pitchFamily="34" charset="0"/>
              <a:buChar char="•"/>
            </a:pPr>
            <a:r>
              <a:rPr sz="2000">
                <a:sym typeface="+mn-ea"/>
              </a:rPr>
              <a:t>Users can record income, expenses, savings, and budget details.</a:t>
            </a:r>
          </a:p>
          <a:p>
            <a:pPr marL="173355" indent="-173355">
              <a:spcAft>
                <a:spcPts val="800"/>
              </a:spcAft>
              <a:buFont typeface="Arial" panose="020B0604020202020204" pitchFamily="34" charset="0"/>
              <a:buChar char="•"/>
            </a:pPr>
            <a:r>
              <a:rPr sz="2000">
                <a:sym typeface="+mn-ea"/>
              </a:rPr>
              <a:t>Interactive dashboards and reports improve financial decision-making.</a:t>
            </a:r>
            <a:endParaRPr lang="en-US" sz="2000" dirty="0">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5" name="Google Shape;127;p22"/>
          <p:cNvSpPr txBox="1"/>
          <p:nvPr/>
        </p:nvSpPr>
        <p:spPr>
          <a:xfrm>
            <a:off x="139767" y="687300"/>
            <a:ext cx="8520600" cy="338514"/>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buSzPts val="2800"/>
            </a:pPr>
            <a:r>
              <a:rPr lang="en-US" sz="1600" b="1">
                <a:solidFill>
                  <a:srgbClr val="002060"/>
                </a:solidFill>
              </a:rPr>
              <a:t>Project Demo</a:t>
            </a:r>
          </a:p>
        </p:txBody>
      </p:sp>
      <p:grpSp>
        <p:nvGrpSpPr>
          <p:cNvPr id="13" name="Group 12"/>
          <p:cNvGrpSpPr/>
          <p:nvPr/>
        </p:nvGrpSpPr>
        <p:grpSpPr>
          <a:xfrm>
            <a:off x="1799924" y="1352550"/>
            <a:ext cx="5422232" cy="3199772"/>
            <a:chOff x="1159110" y="1292018"/>
            <a:chExt cx="5422232" cy="3199772"/>
          </a:xfrm>
        </p:grpSpPr>
        <p:sp>
          <p:nvSpPr>
            <p:cNvPr id="6" name="Oval 5"/>
            <p:cNvSpPr/>
            <p:nvPr/>
          </p:nvSpPr>
          <p:spPr>
            <a:xfrm>
              <a:off x="3217787" y="1292018"/>
              <a:ext cx="2826661" cy="2826661"/>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hlinkClick r:id="rId3"/>
            </p:cNvPr>
            <p:cNvSpPr/>
            <p:nvPr/>
          </p:nvSpPr>
          <p:spPr>
            <a:xfrm>
              <a:off x="1159110" y="2630906"/>
              <a:ext cx="5422232" cy="1860884"/>
            </a:xfrm>
            <a:prstGeom prst="roundRect">
              <a:avLst>
                <a:gd name="adj" fmla="val 14943"/>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1691508" y="3007350"/>
              <a:ext cx="4357437" cy="553998"/>
            </a:xfrm>
            <a:prstGeom prst="rect">
              <a:avLst/>
            </a:prstGeom>
            <a:noFill/>
          </p:spPr>
          <p:txBody>
            <a:bodyPr wrap="square">
              <a:spAutoFit/>
            </a:bodyPr>
            <a:lstStyle/>
            <a:p>
              <a:pPr algn="ctr"/>
              <a:r>
                <a:rPr lang="en-US" sz="3000" b="1" i="0" u="none" strike="noStrike" cap="none">
                  <a:solidFill>
                    <a:schemeClr val="bg1"/>
                  </a:solidFill>
                  <a:latin typeface="Arial" panose="020B0604020202020204"/>
                  <a:ea typeface="Arial" panose="020B0604020202020204"/>
                  <a:cs typeface="Arial" panose="020B0604020202020204"/>
                  <a:sym typeface="Arial" panose="020B0604020202020204"/>
                </a:rPr>
                <a:t>Website link </a:t>
              </a:r>
              <a:endParaRPr lang="en-US" sz="3000" b="1">
                <a:solidFill>
                  <a:schemeClr val="bg1"/>
                </a:solidFill>
              </a:endParaRPr>
            </a:p>
          </p:txBody>
        </p:sp>
        <p:sp>
          <p:nvSpPr>
            <p:cNvPr id="12" name="Rectangle 2"/>
            <p:cNvSpPr>
              <a:spLocks noChangeArrowheads="1"/>
            </p:cNvSpPr>
            <p:nvPr/>
          </p:nvSpPr>
          <p:spPr bwMode="auto">
            <a:xfrm>
              <a:off x="1696004" y="3716807"/>
              <a:ext cx="434844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r>
                <a:rPr lang="en-IN" sz="1600" b="1" dirty="0">
                  <a:solidFill>
                    <a:schemeClr val="bg1"/>
                  </a:solidFill>
                  <a:sym typeface="+mn-ea"/>
                  <a:hlinkClick r:id="rId4"/>
                </a:rPr>
                <a:t>Personal Finance Tracker</a:t>
              </a:r>
              <a:endParaRPr lang="en-IN" sz="1600" b="1" dirty="0">
                <a:solidFill>
                  <a:schemeClr val="bg1"/>
                </a:solidFill>
                <a:sym typeface="+mn-ea"/>
              </a:endParaRPr>
            </a:p>
          </p:txBody>
        </p:sp>
      </p:grpSp>
      <p:grpSp>
        <p:nvGrpSpPr>
          <p:cNvPr id="19" name="Group 18"/>
          <p:cNvGrpSpPr/>
          <p:nvPr/>
        </p:nvGrpSpPr>
        <p:grpSpPr>
          <a:xfrm>
            <a:off x="4393138" y="1229664"/>
            <a:ext cx="1757585" cy="1815552"/>
            <a:chOff x="686159" y="633457"/>
            <a:chExt cx="2849880" cy="2943873"/>
          </a:xfrm>
        </p:grpSpPr>
        <p:sp>
          <p:nvSpPr>
            <p:cNvPr id="18" name="Rectangle 17"/>
            <p:cNvSpPr/>
            <p:nvPr/>
          </p:nvSpPr>
          <p:spPr>
            <a:xfrm>
              <a:off x="790438" y="1492457"/>
              <a:ext cx="2613660" cy="14935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descr="A person on a computer screen&#10;&#10;Description automatically generated"/>
            <p:cNvPicPr>
              <a:picLocks noChangeAspect="1"/>
            </p:cNvPicPr>
            <p:nvPr/>
          </p:nvPicPr>
          <p:blipFill rotWithShape="1">
            <a:blip r:embed="rId5"/>
            <a:srcRect l="17439" r="18038"/>
            <a:stretch>
              <a:fillRect/>
            </a:stretch>
          </p:blipFill>
          <p:spPr>
            <a:xfrm>
              <a:off x="686159" y="633457"/>
              <a:ext cx="2849880" cy="2943873"/>
            </a:xfrm>
            <a:prstGeom prst="rect">
              <a:avLst/>
            </a:prstGeom>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pic>
        <p:nvPicPr>
          <p:cNvPr id="14" name="Picture 13" descr="A group of people standing on a arrow&#10;&#10;Description automatically generated"/>
          <p:cNvPicPr>
            <a:picLocks noChangeAspect="1"/>
          </p:cNvPicPr>
          <p:nvPr/>
        </p:nvPicPr>
        <p:blipFill>
          <a:blip r:embed="rId3"/>
          <a:stretch>
            <a:fillRect/>
          </a:stretch>
        </p:blipFill>
        <p:spPr>
          <a:xfrm flipH="1">
            <a:off x="4488180" y="1021274"/>
            <a:ext cx="4655820" cy="3100952"/>
          </a:xfrm>
          <a:prstGeom prst="rect">
            <a:avLst/>
          </a:prstGeom>
        </p:spPr>
      </p:pic>
      <p:sp>
        <p:nvSpPr>
          <p:cNvPr id="4" name="Google Shape;127;p22"/>
          <p:cNvSpPr txBox="1"/>
          <p:nvPr/>
        </p:nvSpPr>
        <p:spPr>
          <a:xfrm>
            <a:off x="132147" y="687300"/>
            <a:ext cx="8520600" cy="367030"/>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buSzPts val="2800"/>
            </a:pPr>
            <a:r>
              <a:rPr lang="en-US" sz="1800" b="1">
                <a:solidFill>
                  <a:srgbClr val="002060"/>
                </a:solidFill>
              </a:rPr>
              <a:t>Future Scope</a:t>
            </a:r>
          </a:p>
        </p:txBody>
      </p:sp>
      <p:sp>
        <p:nvSpPr>
          <p:cNvPr id="8" name="Google Shape;134;p23"/>
          <p:cNvSpPr txBox="1"/>
          <p:nvPr/>
        </p:nvSpPr>
        <p:spPr>
          <a:xfrm>
            <a:off x="132080" y="1025525"/>
            <a:ext cx="4439920" cy="3413760"/>
          </a:xfrm>
          <a:prstGeom prst="rect">
            <a:avLst/>
          </a:prstGeom>
          <a:noFill/>
          <a:ln>
            <a:noFill/>
          </a:ln>
        </p:spPr>
        <p:txBody>
          <a:bodyPr spcFirstLastPara="1" wrap="square" lIns="91425" tIns="45700" rIns="91425" bIns="45700" anchor="t" anchorCtr="0">
            <a:noAutofit/>
          </a:bodyPr>
          <a:lstStyle/>
          <a:p>
            <a:pPr marL="173990" indent="-173990">
              <a:spcAft>
                <a:spcPts val="800"/>
              </a:spcAft>
              <a:buFont typeface="Arial" panose="020B0604020202020204" pitchFamily="34" charset="0"/>
              <a:buChar char="•"/>
            </a:pPr>
            <a:r>
              <a:rPr lang="en-US" altLang="en-US" b="1" dirty="0"/>
              <a:t>AI-Based Expense Prediction</a:t>
            </a:r>
          </a:p>
          <a:p>
            <a:pPr marL="173990" indent="-173990">
              <a:spcAft>
                <a:spcPts val="800"/>
              </a:spcAft>
              <a:buFont typeface="Arial" panose="020B0604020202020204" pitchFamily="34" charset="0"/>
              <a:buChar char="•"/>
            </a:pPr>
            <a:r>
              <a:rPr lang="en-US" altLang="en-US" dirty="0"/>
              <a:t>Artificial Intelligence can be used to predict future expenses and provide smart budgeting suggestions for better financial planning.</a:t>
            </a:r>
          </a:p>
          <a:p>
            <a:pPr marL="173990" indent="-173990">
              <a:spcAft>
                <a:spcPts val="800"/>
              </a:spcAft>
              <a:buFont typeface="Arial" panose="020B0604020202020204" pitchFamily="34" charset="0"/>
              <a:buChar char="•"/>
            </a:pPr>
            <a:r>
              <a:rPr lang="en-US" altLang="en-US" b="1" dirty="0"/>
              <a:t>Real-Time Dashboard</a:t>
            </a:r>
          </a:p>
          <a:p>
            <a:pPr marL="173990" indent="-173990">
              <a:spcAft>
                <a:spcPts val="800"/>
              </a:spcAft>
              <a:buFont typeface="Arial" panose="020B0604020202020204" pitchFamily="34" charset="0"/>
              <a:buChar char="•"/>
            </a:pPr>
            <a:r>
              <a:rPr lang="en-US" altLang="en-US" dirty="0"/>
              <a:t>The project can be upgraded with real-time dashboards using Power BI or Tableau to track income, expenses, and savings more effectively.</a:t>
            </a:r>
          </a:p>
          <a:p>
            <a:pPr marL="173990" indent="-173990">
              <a:spcAft>
                <a:spcPts val="800"/>
              </a:spcAft>
              <a:buFont typeface="Arial" panose="020B0604020202020204" pitchFamily="34" charset="0"/>
              <a:buChar char="•"/>
            </a:pPr>
            <a:r>
              <a:rPr lang="en-US" altLang="en-US" b="1" dirty="0"/>
              <a:t>Mobile App Integration</a:t>
            </a:r>
          </a:p>
          <a:p>
            <a:pPr marL="173990" indent="-173990">
              <a:spcAft>
                <a:spcPts val="800"/>
              </a:spcAft>
              <a:buFont typeface="Arial" panose="020B0604020202020204" pitchFamily="34" charset="0"/>
              <a:buChar char="•"/>
            </a:pPr>
            <a:r>
              <a:rPr lang="en-US" altLang="en-US" dirty="0"/>
              <a:t>In the future, this project can also be developed as a mobile application for easy access anytime and anywhere.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7" name="Google Shape;127;p22"/>
          <p:cNvSpPr txBox="1"/>
          <p:nvPr/>
        </p:nvSpPr>
        <p:spPr>
          <a:xfrm>
            <a:off x="139767" y="687300"/>
            <a:ext cx="8520600" cy="397510"/>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buSzPts val="2800"/>
            </a:pPr>
            <a:r>
              <a:rPr lang="en-US" sz="2000" b="1">
                <a:solidFill>
                  <a:srgbClr val="002060"/>
                </a:solidFill>
              </a:rPr>
              <a:t>Conclusion</a:t>
            </a:r>
          </a:p>
        </p:txBody>
      </p:sp>
      <p:sp>
        <p:nvSpPr>
          <p:cNvPr id="8" name="Google Shape;134;p23"/>
          <p:cNvSpPr txBox="1"/>
          <p:nvPr/>
        </p:nvSpPr>
        <p:spPr>
          <a:xfrm>
            <a:off x="131949" y="1142768"/>
            <a:ext cx="4440051" cy="2860040"/>
          </a:xfrm>
          <a:prstGeom prst="rect">
            <a:avLst/>
          </a:prstGeom>
          <a:noFill/>
          <a:ln>
            <a:noFill/>
          </a:ln>
        </p:spPr>
        <p:txBody>
          <a:bodyPr spcFirstLastPara="1" wrap="square" lIns="91425" tIns="45700" rIns="91425" bIns="45700" anchor="t" anchorCtr="0">
            <a:spAutoFit/>
          </a:bodyPr>
          <a:lstStyle/>
          <a:p>
            <a:pPr marL="173990" lvl="0" indent="-173990">
              <a:spcAft>
                <a:spcPts val="800"/>
              </a:spcAft>
              <a:buFont typeface="Arial" panose="020B0604020202020204" pitchFamily="34" charset="0"/>
              <a:buChar char="•"/>
            </a:pPr>
            <a:r>
              <a:rPr lang="en-US" altLang="en-US" sz="1600" dirty="0"/>
              <a:t>The project helps users manage their income, expenses, and savings effectively.</a:t>
            </a:r>
          </a:p>
          <a:p>
            <a:pPr marL="173990" lvl="0" indent="-173990">
              <a:spcAft>
                <a:spcPts val="800"/>
              </a:spcAft>
              <a:buFont typeface="Arial" panose="020B0604020202020204" pitchFamily="34" charset="0"/>
              <a:buChar char="•"/>
            </a:pPr>
            <a:r>
              <a:rPr lang="en-US" altLang="en-US" sz="1600" dirty="0"/>
              <a:t>Expense tracking provides better understanding of daily and monthly spending habits.</a:t>
            </a:r>
          </a:p>
          <a:p>
            <a:pPr marL="173990" lvl="0" indent="-173990">
              <a:spcAft>
                <a:spcPts val="800"/>
              </a:spcAft>
              <a:buFont typeface="Arial" panose="020B0604020202020204" pitchFamily="34" charset="0"/>
              <a:buChar char="•"/>
            </a:pPr>
            <a:r>
              <a:rPr lang="en-US" altLang="en-US" sz="1600" dirty="0"/>
              <a:t>Budget management helps users improve financial planning and savings.</a:t>
            </a:r>
          </a:p>
          <a:p>
            <a:pPr marL="173990" lvl="0" indent="-173990">
              <a:spcAft>
                <a:spcPts val="800"/>
              </a:spcAft>
              <a:buFont typeface="Arial" panose="020B0604020202020204" pitchFamily="34" charset="0"/>
              <a:buChar char="•"/>
            </a:pPr>
            <a:r>
              <a:rPr lang="en-US" altLang="en-US" sz="1600" dirty="0"/>
              <a:t>Tools like dashboards, charts, and reports make personal finance management more simple and efficient.</a:t>
            </a:r>
          </a:p>
        </p:txBody>
      </p:sp>
      <p:pic>
        <p:nvPicPr>
          <p:cNvPr id="9" name="Picture 8" descr="A person standing next to a clipboard with a checklist&#10;&#10;Description automatically generated"/>
          <p:cNvPicPr>
            <a:picLocks noChangeAspect="1"/>
          </p:cNvPicPr>
          <p:nvPr/>
        </p:nvPicPr>
        <p:blipFill rotWithShape="1">
          <a:blip r:embed="rId3"/>
          <a:srcRect l="17552" r="12574"/>
          <a:stretch>
            <a:fillRect/>
          </a:stretch>
        </p:blipFill>
        <p:spPr>
          <a:xfrm>
            <a:off x="5205663" y="1100827"/>
            <a:ext cx="3930314" cy="374986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close-up of a thank you card&#10;&#10;Description automatically generated"/>
          <p:cNvPicPr>
            <a:picLocks noChangeAspect="1"/>
          </p:cNvPicPr>
          <p:nvPr/>
        </p:nvPicPr>
        <p:blipFill rotWithShape="1">
          <a:blip r:embed="rId3"/>
          <a:srcRect l="9710" t="21904" r="9339"/>
          <a:stretch>
            <a:fillRect/>
          </a:stretch>
        </p:blipFill>
        <p:spPr>
          <a:xfrm>
            <a:off x="1869484" y="1466831"/>
            <a:ext cx="5647194" cy="3064485"/>
          </a:xfrm>
          <a:prstGeom prst="rect">
            <a:avLst/>
          </a:prstGeom>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5" ma:contentTypeDescription="Create a new document." ma:contentTypeScope="" ma:versionID="7670618c03e54fbae4a17ecb2d0ed10f">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3d63de1c5a217044e31e0c8b260d3d71"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9162bd5b-4ed9-4da3-b376-05204580ba3f" xsi:nil="true"/>
  </documentManagement>
</p:properties>
</file>

<file path=customXml/itemProps1.xml><?xml version="1.0" encoding="utf-8"?>
<ds:datastoreItem xmlns:ds="http://schemas.openxmlformats.org/officeDocument/2006/customXml" ds:itemID="{7D9E5D5E-A365-4A49-8140-C8CC82A61608}">
  <ds:schemaRefs/>
</ds:datastoreItem>
</file>

<file path=customXml/itemProps2.xml><?xml version="1.0" encoding="utf-8"?>
<ds:datastoreItem xmlns:ds="http://schemas.openxmlformats.org/officeDocument/2006/customXml" ds:itemID="{3706AB80-2608-47D7-8AC8-FA6BC8A9B27C}">
  <ds:schemaRefs/>
</ds:datastoreItem>
</file>

<file path=customXml/itemProps3.xml><?xml version="1.0" encoding="utf-8"?>
<ds:datastoreItem xmlns:ds="http://schemas.openxmlformats.org/officeDocument/2006/customXml" ds:itemID="{A6559A34-456E-49A1-8157-9E3D18BFAD36}">
  <ds:schemaRefs/>
</ds:datastoreItem>
</file>

<file path=docProps/app.xml><?xml version="1.0" encoding="utf-8"?>
<Properties xmlns="http://schemas.openxmlformats.org/officeDocument/2006/extended-properties" xmlns:vt="http://schemas.openxmlformats.org/officeDocument/2006/docPropsVTypes">
  <TotalTime>1</TotalTime>
  <Words>263</Words>
  <Application>Microsoft Office PowerPoint</Application>
  <PresentationFormat>On-screen Show (16:9)</PresentationFormat>
  <Paragraphs>36</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Times New Roman</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Moinudeen Syed</dc:creator>
  <cp:lastModifiedBy>Hp2</cp:lastModifiedBy>
  <cp:revision>9</cp:revision>
  <dcterms:created xsi:type="dcterms:W3CDTF">2026-05-14T15:08:15Z</dcterms:created>
  <dcterms:modified xsi:type="dcterms:W3CDTF">2026-05-15T07:11:09Z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y fmtid="{D5CDD505-2E9C-101B-9397-08002B2CF9AE}" pid="3" name="KSOProductBuildVer">
    <vt:lpwstr>1033-12.1.0.26372</vt:lpwstr>
  </property>
  <property fmtid="{D5CDD505-2E9C-101B-9397-08002B2CF9AE}" pid="4" name="ICV">
    <vt:lpwstr>D281692C80A340BAA42248B746210E1E_13</vt:lpwstr>
  </property>
</Properties>
</file>